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25"/>
    <p:restoredTop sz="94637"/>
  </p:normalViewPr>
  <p:slideViewPr>
    <p:cSldViewPr snapToGrid="0" snapToObjects="1">
      <p:cViewPr varScale="1">
        <p:scale>
          <a:sx n="78" d="100"/>
          <a:sy n="78" d="100"/>
        </p:scale>
        <p:origin x="2344" y="1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t>Llama 3.1 70B Config Exploration</a:t>
            </a:r>
          </a:p>
          <a:p>
            <a:pPr algn="l">
              <a:defRPr sz="2400">
                <a:solidFill>
                  <a:srgbClr val="555555"/>
                </a:solidFill>
              </a:defRPr>
            </a:pPr>
            <a:r>
              <a:t>Sim2Real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Model: Llama 3.1 70B Instruct (FP8) on H100 80GB</a:t>
            </a:r>
          </a:p>
          <a:p>
            <a:pPr>
              <a:spcAft>
                <a:spcPts val="400"/>
              </a:spcAft>
              <a:defRPr sz="1400"/>
            </a:pPr>
            <a:r>
              <a:t>Workload: Chatbot, 10 QPS Poisson, 10K requests</a:t>
            </a:r>
          </a:p>
          <a:p>
            <a:pPr>
              <a:spcAft>
                <a:spcPts val="400"/>
              </a:spcAft>
              <a:defRPr sz="1400"/>
            </a:pPr>
            <a:r>
              <a:t>ISL: Gaussian(512, 200), OSL: Gaussian(256, 100)</a:t>
            </a:r>
          </a:p>
          <a:p>
            <a:pPr>
              <a:spcAft>
                <a:spcPts val="400"/>
              </a:spcAft>
              <a:defRPr sz="1400"/>
            </a:pPr>
            <a:r>
              <a:t>SLO: Mean TTFT &lt;= 300 ms</a:t>
            </a:r>
          </a:p>
          <a:p>
            <a:pPr>
              <a:spcAft>
                <a:spcPts val="400"/>
              </a:spcAft>
              <a:defRPr sz="1400"/>
            </a:pPr>
            <a:endParaRPr/>
          </a:p>
          <a:p>
            <a:pPr>
              <a:spcAft>
                <a:spcPts val="400"/>
              </a:spcAft>
              <a:defRPr sz="1400"/>
            </a:pPr>
            <a:r>
              <a:t>Tools compared: BLIS (inference-sim), AIConfigurator, llm-optimizer</a:t>
            </a:r>
          </a:p>
          <a:p>
            <a:pPr>
              <a:spcAft>
                <a:spcPts val="400"/>
              </a:spcAft>
              <a:defRPr sz="1400"/>
            </a:pPr>
            <a:r>
              <a:t>9 configs tested, 5 deployed successfully, 4 failed (KV cache OOM)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BLIS Search Algorithm: NSGA-II Multi-Objective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t>How It Works</a:t>
            </a:r>
          </a:p>
          <a:p>
            <a:pPr>
              <a:spcAft>
                <a:spcPts val="100"/>
              </a:spcAft>
              <a:defRPr sz="1100" b="1"/>
            </a:pPr>
            <a:r>
              <a:t>1. Generate initial population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40 random configs from the parameter space</a:t>
            </a:r>
          </a:p>
          <a:p>
            <a:pPr>
              <a:spcAft>
                <a:spcPts val="100"/>
              </a:spcAft>
              <a:defRPr sz="1100" b="1"/>
            </a:pPr>
            <a:r>
              <a:t>2. Evaluate each config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Run BLIS simulation (~100-250ms each, parallelized)</a:t>
            </a:r>
          </a:p>
          <a:p>
            <a:pPr>
              <a:spcAft>
                <a:spcPts val="100"/>
              </a:spcAft>
              <a:defRPr sz="1100" b="1"/>
            </a:pPr>
            <a:r>
              <a:t>3. Rank by Pareto dominance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Non-dominated sorting into fronts</a:t>
            </a:r>
          </a:p>
          <a:p>
            <a:pPr>
              <a:spcAft>
                <a:spcPts val="100"/>
              </a:spcAft>
              <a:defRPr sz="1100" b="1"/>
            </a:pPr>
            <a:r>
              <a:t>4. Select parents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Tournament selection favoring front rank + crowding distance</a:t>
            </a:r>
          </a:p>
          <a:p>
            <a:pPr>
              <a:spcAft>
                <a:spcPts val="100"/>
              </a:spcAft>
              <a:defRPr sz="1100" b="1"/>
            </a:pPr>
            <a:r>
              <a:t>5. Crossover + mutate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Uniform crossover of config params, 15% per-param mutation</a:t>
            </a:r>
          </a:p>
          <a:p>
            <a:pPr>
              <a:spcAft>
                <a:spcPts val="100"/>
              </a:spcAft>
              <a:defRPr sz="1100" b="1"/>
            </a:pPr>
            <a:r>
              <a:t>6. Repeat for 4 generations</a:t>
            </a:r>
          </a:p>
          <a:p>
            <a:pPr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   ~200 total evaluations, 3-5 seconds wall time</a:t>
            </a:r>
          </a:p>
          <a:p>
            <a:pPr>
              <a:defRPr sz="1100" b="1">
                <a:solidFill>
                  <a:srgbClr val="1F77B4"/>
                </a:solidFill>
              </a:defRPr>
            </a:pPr>
            <a:r>
              <a:t>Result: Pareto-optimal set of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731520"/>
            <a:ext cx="4114800" cy="431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rPr dirty="0"/>
              <a:t>4 Objectives (simultaneous)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  Maximize throughput (responses/sec)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  Minimize TTFT P99 (latency)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  Minimize GPU count (cost)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  Minimize KV memory (blocks)</a:t>
            </a:r>
          </a:p>
          <a:p>
            <a:pPr>
              <a:spcAft>
                <a:spcPts val="1000"/>
              </a:spcAft>
            </a:pPr>
            <a:endParaRPr dirty="0"/>
          </a:p>
          <a:p>
            <a:pPr>
              <a:spcAft>
                <a:spcPts val="600"/>
              </a:spcAft>
              <a:defRPr sz="1400" b="1"/>
            </a:pPr>
            <a:r>
              <a:rPr dirty="0"/>
              <a:t>6-Parameter Search </a:t>
            </a:r>
            <a:r>
              <a:rPr lang="en-US" dirty="0"/>
              <a:t>Space </a:t>
            </a:r>
          </a:p>
          <a:p>
            <a:pPr>
              <a:spcAft>
                <a:spcPts val="200"/>
              </a:spcAft>
              <a:defRPr sz="1100"/>
            </a:pPr>
            <a:r>
              <a:rPr lang="en-US" dirty="0"/>
              <a:t>  TP: 1, 2, 4, 8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  Replicas: 1..floor(8/TP)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  Scheduler: FCFS, SJF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  Max batch size: 32, 64, 128, 256, 512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  KV blocks: 2K, 3K, 4K, 5K, 7.5K, 10K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  Block size: 16, 32 tokens</a:t>
            </a:r>
          </a:p>
          <a:p>
            <a:pPr>
              <a:spcAft>
                <a:spcPts val="1000"/>
              </a:spcAft>
            </a:pPr>
            <a:endParaRPr dirty="0"/>
          </a:p>
          <a:p>
            <a:pPr>
              <a:spcAft>
                <a:spcPts val="600"/>
              </a:spcAft>
              <a:defRPr sz="1400" b="1"/>
            </a:pPr>
            <a:r>
              <a:rPr dirty="0"/>
              <a:t>Why NSGA-II?</a:t>
            </a:r>
          </a:p>
          <a:p>
            <a:pPr>
              <a:spcAft>
                <a:spcPts val="300"/>
              </a:spcAft>
              <a:defRPr sz="1000"/>
            </a:pPr>
            <a:r>
              <a:rPr dirty="0"/>
              <a:t>  Reaches 99.2% of exhaustive hypervolume at 200 evals</a:t>
            </a:r>
          </a:p>
          <a:p>
            <a:pPr>
              <a:spcAft>
                <a:spcPts val="300"/>
              </a:spcAft>
              <a:defRPr sz="1000"/>
            </a:pPr>
            <a:r>
              <a:rPr dirty="0"/>
              <a:t>  Random search plateaus at 94.3%</a:t>
            </a:r>
          </a:p>
          <a:p>
            <a:pPr>
              <a:spcAft>
                <a:spcPts val="300"/>
              </a:spcAft>
              <a:defRPr sz="1000"/>
            </a:pPr>
            <a:r>
              <a:rPr dirty="0"/>
              <a:t>  Crossover of Pareto parents produces Pareto offspring ~65% of the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Pareto Front: Predicted vs Actual (TTFT vs Throughput)</a:t>
            </a:r>
          </a:p>
        </p:txBody>
      </p:sp>
      <p:pic>
        <p:nvPicPr>
          <p:cNvPr id="3" name="Picture 2" descr="pareto_latency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85953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/>
            </a:pPr>
            <a:r>
              <a:t>Actual Results (Stable Configs)</a:t>
            </a:r>
          </a:p>
          <a:p>
            <a:pPr>
              <a:spcAft>
                <a:spcPts val="200"/>
              </a:spcAft>
              <a:defRPr sz="1100"/>
            </a:pPr>
            <a:r>
              <a:t>BLIS TP4x1 (4 GPU): TTFT=157ms, Max=15,056 tok/s</a:t>
            </a:r>
          </a:p>
          <a:p>
            <a:pPr>
              <a:spcAft>
                <a:spcPts val="200"/>
              </a:spcAft>
              <a:defRPr sz="1100"/>
            </a:pPr>
            <a:r>
              <a:t>BLIS TP8x1 (8 GPU): TTFT=197ms, Max=13,155 tok/s</a:t>
            </a:r>
          </a:p>
          <a:p>
            <a:pPr>
              <a:spcAft>
                <a:spcPts val="200"/>
              </a:spcAft>
              <a:defRPr sz="1100"/>
            </a:pPr>
            <a:r>
              <a:t>AICfg TP4x2 (8 GPU): TTFT=141ms, Max=8,188 tok/s</a:t>
            </a:r>
          </a:p>
          <a:p>
            <a:endParaRPr/>
          </a:p>
          <a:p>
            <a:pPr>
              <a:spcAft>
                <a:spcPts val="400"/>
              </a:spcAft>
              <a:defRPr sz="1100" i="1"/>
            </a:pPr>
            <a:r>
              <a:t>Overloaded (batch size too small for 10 QPS):</a:t>
            </a:r>
          </a:p>
          <a:p>
            <a:pPr>
              <a:spcAft>
                <a:spcPts val="200"/>
              </a:spcAft>
              <a:defRPr sz="1100">
                <a:solidFill>
                  <a:srgbClr val="CC0000"/>
                </a:solidFill>
              </a:defRPr>
            </a:pPr>
            <a:r>
              <a:t>AICfg TP4x1 (4 GPU, seqs=96): TTFT=43.6s</a:t>
            </a:r>
          </a:p>
          <a:p>
            <a:pPr>
              <a:spcAft>
                <a:spcPts val="200"/>
              </a:spcAft>
              <a:defRPr sz="1100">
                <a:solidFill>
                  <a:srgbClr val="CC0000"/>
                </a:solidFill>
              </a:defRPr>
            </a:pPr>
            <a:r>
              <a:t>llm-opt TP4x1 (4 GPU, seqs=8): TTFT=970s, 68% timeouts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7315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/>
            </a:pPr>
            <a:r>
              <a:t>Key Findings</a:t>
            </a:r>
          </a:p>
          <a:p>
            <a:pPr>
              <a:spcAft>
                <a:spcPts val="1000"/>
              </a:spcAft>
              <a:defRPr sz="1100"/>
            </a:pPr>
            <a:r>
              <a:t>• BLIS wins: best throughput prediction accuracy (within 15-18% of actual)</a:t>
            </a:r>
          </a:p>
          <a:p>
            <a:pPr>
              <a:spcAft>
                <a:spcPts val="1000"/>
              </a:spcAft>
              <a:defRPr sz="1100"/>
            </a:pPr>
            <a:r>
              <a:t>• Critical differentiator: batch size selection. BLIS uses max_num_seqs=512; AIConfigurator=96; llm-optimizer=8</a:t>
            </a:r>
          </a:p>
          <a:p>
            <a:pPr>
              <a:spcAft>
                <a:spcPts val="1000"/>
              </a:spcAft>
              <a:defRPr sz="1100"/>
            </a:pPr>
            <a:r>
              <a:t>• All TP&lt;=3 configs fail (KV cache OOM with 131K context). None of the tools predicted this.</a:t>
            </a:r>
          </a:p>
          <a:p>
            <a:pPr>
              <a:spcAft>
                <a:spcPts val="1000"/>
              </a:spcAft>
              <a:defRPr sz="1100"/>
            </a:pPr>
            <a:r>
              <a:t>• BLIS underestimates TTFT by 3-5x but gets capacity right. For capacity planning, throughput accuracy matters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F77B4"/>
                </a:solidFill>
              </a:defRPr>
            </a:pPr>
            <a:r>
              <a:t>Winner: BLIS (inference-sim)</a:t>
            </a:r>
          </a:p>
          <a:p>
            <a:pPr>
              <a:defRPr sz="1100"/>
            </a:pPr>
            <a:r>
              <a:t>BLIS's binary search for max sustainable throughput produces the most operationally useful metric. Its aggressive batch sizes (512) correctly model real vLLM continuous batching behavior, while other tools' conservative settings (8-96) cause queuing failures at moderate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11107</TotalTime>
  <Words>555</Words>
  <Application>Microsoft Macintosh PowerPoint</Application>
  <PresentationFormat>On-screen Show (4:3)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Jing Chen</cp:lastModifiedBy>
  <cp:revision>2</cp:revision>
  <dcterms:created xsi:type="dcterms:W3CDTF">2013-01-27T09:14:16Z</dcterms:created>
  <dcterms:modified xsi:type="dcterms:W3CDTF">2026-06-11T12:55:43Z</dcterms:modified>
  <cp:category/>
</cp:coreProperties>
</file>